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aleway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regular.fntdata"/><Relationship Id="rId21" Type="http://schemas.openxmlformats.org/officeDocument/2006/relationships/slide" Target="slides/slide16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Raleway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aa4147b7f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aa4147b7f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74dd06c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74dd06c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738048d97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738048d97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738048d97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738048d97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74dd06ca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74dd06ca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74dd06ca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74dd06ca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74dd06ca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74dd06ca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738048d97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9738048d97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74dd06ca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74dd06ca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74dd06ca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74dd06ca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74dd06ca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74dd06ca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74dd06ca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74dd06ca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7b4849ba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97b4849ba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7b4849ba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97b4849ba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74dd06ca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974dd06ca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www.vencoel.com/producto/lora-bt/" TargetMode="External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700">
                <a:solidFill>
                  <a:srgbClr val="0A0A0A"/>
                </a:solidFill>
                <a:highlight>
                  <a:srgbClr val="FFFFFF"/>
                </a:highlight>
              </a:rPr>
              <a:t>Tecnología de comunicacíon LoRa (Long Range)</a:t>
            </a:r>
            <a:endParaRPr sz="67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92352" y="4301975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Integrantes del grupo: Lucca Rando, Hernan Lombino, Javier Maya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3044"/>
              <a:t>¿En qué consiste LoRa?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8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b="1" lang="es-419" sz="2000">
                <a:solidFill>
                  <a:srgbClr val="000000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LoRa (del inglés Long Range)</a:t>
            </a:r>
            <a:r>
              <a:rPr lang="es-419" sz="2000">
                <a:solidFill>
                  <a:srgbClr val="000000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 es una </a:t>
            </a:r>
            <a:r>
              <a:rPr lang="es-419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tecnología de comunicación inalámbrica de bajo consumo y largo alcance</a:t>
            </a:r>
            <a:r>
              <a:rPr lang="es-419" sz="2000">
                <a:solidFill>
                  <a:srgbClr val="000000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, diseñada principalmente para el Internet de las Cosas (IoT) y también comunicación punto a punto (P2P). Permite transmitir pequeños paquetes de datos a kilómetros de distancia utilizando frecuencias en el orden de los MHz </a:t>
            </a:r>
            <a:r>
              <a:rPr lang="es-419" sz="2000">
                <a:solidFill>
                  <a:srgbClr val="0A0A0A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, ideal para sensores alimentados por batería que requieren años de autonomía. Utiliza Chirp Spread Spectrum (CSS), que es una modulación por espectro ensanchado por chirrido.</a:t>
            </a:r>
            <a:endParaRPr sz="20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>
                <a:solidFill>
                  <a:srgbClr val="0A0A0A"/>
                </a:solidFill>
                <a:highlight>
                  <a:srgbClr val="FFFFFF"/>
                </a:highlight>
              </a:rPr>
              <a:t>LoRa punto a punto (P2P)</a:t>
            </a:r>
            <a:endParaRPr sz="2300"/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2600" y="3503550"/>
            <a:ext cx="3026500" cy="163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1944500"/>
            <a:ext cx="7911000" cy="29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2000">
                <a:solidFill>
                  <a:srgbClr val="000000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La comunicación LoRa </a:t>
            </a:r>
            <a:r>
              <a:rPr b="1" lang="es-419" sz="2000">
                <a:solidFill>
                  <a:srgbClr val="000000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punto a punto (P2P)</a:t>
            </a:r>
            <a:r>
              <a:rPr lang="es-419" sz="2000">
                <a:solidFill>
                  <a:srgbClr val="000000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s-419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establece una conexión inalámbrica </a:t>
            </a:r>
            <a:r>
              <a:rPr b="1" lang="es-419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directa</a:t>
            </a:r>
            <a:r>
              <a:rPr lang="es-419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y exclusiva </a:t>
            </a:r>
            <a:r>
              <a:rPr b="1" lang="es-419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entre dos dispositivos</a:t>
            </a:r>
            <a:r>
              <a:rPr lang="es-419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sin necesidad de pasarelas (gateways) ni internet</a:t>
            </a:r>
            <a:r>
              <a:rPr lang="es-419" sz="2000">
                <a:solidFill>
                  <a:srgbClr val="000000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. Utiliza modulación de espectro ensanchado (CSS) en bandas libres (</a:t>
            </a:r>
            <a:r>
              <a:rPr b="1" lang="es-419" sz="2000">
                <a:solidFill>
                  <a:srgbClr val="000000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433/868/915 MHz</a:t>
            </a:r>
            <a:r>
              <a:rPr lang="es-419" sz="2000">
                <a:solidFill>
                  <a:srgbClr val="000000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) para lograr largo alcance y bajo consumo, ideal para telemetría directa. </a:t>
            </a:r>
            <a:endParaRPr sz="21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Características técnicas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321725" y="2078875"/>
            <a:ext cx="26886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2550" u="sng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Consumo de potencia:</a:t>
            </a:r>
            <a:endParaRPr b="1" sz="2550" u="sng">
              <a:solidFill>
                <a:srgbClr val="0000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255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Modo reposo: 1–10 µA</a:t>
            </a:r>
            <a:endParaRPr sz="2550">
              <a:solidFill>
                <a:srgbClr val="0000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255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Recepción: 10–20 mA</a:t>
            </a:r>
            <a:endParaRPr sz="2550">
              <a:solidFill>
                <a:srgbClr val="0000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255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Transmisión: 20–120 mA</a:t>
            </a:r>
            <a:endParaRPr sz="2550">
              <a:solidFill>
                <a:srgbClr val="0000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3229500" y="2078875"/>
            <a:ext cx="2368800" cy="21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800" u="sng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Alcance:</a:t>
            </a:r>
            <a:endParaRPr b="1" sz="1800" u="sng">
              <a:solidFill>
                <a:srgbClr val="98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Urbano: 2–5 km</a:t>
            </a:r>
            <a:endParaRPr sz="1800">
              <a:solidFill>
                <a:srgbClr val="98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Rural: 10–20 km</a:t>
            </a:r>
            <a:endParaRPr sz="1800">
              <a:solidFill>
                <a:srgbClr val="98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Ideal: más de 30 km</a:t>
            </a:r>
            <a:endParaRPr sz="1800">
              <a:solidFill>
                <a:srgbClr val="98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5676675" y="2078875"/>
            <a:ext cx="2506800" cy="21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700" u="sng">
                <a:solidFill>
                  <a:srgbClr val="274E13"/>
                </a:solidFill>
                <a:latin typeface="Raleway"/>
                <a:ea typeface="Raleway"/>
                <a:cs typeface="Raleway"/>
                <a:sym typeface="Raleway"/>
              </a:rPr>
              <a:t>Velocidad</a:t>
            </a:r>
            <a:r>
              <a:rPr b="1" lang="es-419" sz="1700" u="sng">
                <a:solidFill>
                  <a:srgbClr val="274E13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endParaRPr b="1" sz="1700" u="sng">
              <a:solidFill>
                <a:srgbClr val="274E1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274E13"/>
                </a:solidFill>
                <a:latin typeface="Raleway"/>
                <a:ea typeface="Raleway"/>
                <a:cs typeface="Raleway"/>
                <a:sym typeface="Raleway"/>
              </a:rPr>
              <a:t>Entre 0,3 y 50 Kbps</a:t>
            </a:r>
            <a:endParaRPr sz="1700">
              <a:solidFill>
                <a:srgbClr val="274E1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7"/>
          <p:cNvPicPr preferRelativeResize="0"/>
          <p:nvPr/>
        </p:nvPicPr>
        <p:blipFill rotWithShape="1">
          <a:blip r:embed="rId3">
            <a:alphaModFix/>
          </a:blip>
          <a:srcRect b="0" l="0" r="0" t="24431"/>
          <a:stretch/>
        </p:blipFill>
        <p:spPr>
          <a:xfrm>
            <a:off x="1532150" y="3021126"/>
            <a:ext cx="6352700" cy="212237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¿En que consiste el LoRaWan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729450" y="1853850"/>
            <a:ext cx="7958100" cy="30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LoRaWAN es el </a:t>
            </a:r>
            <a:r>
              <a:rPr b="1" lang="es-419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protocolo de red que dicta como se envían y reciben los paquetes de datos</a:t>
            </a:r>
            <a:r>
              <a:rPr lang="es-419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de </a:t>
            </a:r>
            <a:r>
              <a:rPr lang="es-419" sz="20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4"/>
              </a:rPr>
              <a:t>sensores</a:t>
            </a:r>
            <a:r>
              <a:rPr lang="es-419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o otros componentes de la red.  la forma de tratar esos paquetes, gateways , seguridad, etc </a:t>
            </a:r>
            <a:endParaRPr sz="20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055150" y="5692350"/>
            <a:ext cx="4573951" cy="2419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>
                <a:solidFill>
                  <a:srgbClr val="0A0A0A"/>
                </a:solidFill>
                <a:highlight>
                  <a:srgbClr val="FFFFFF"/>
                </a:highlight>
              </a:rPr>
              <a:t>Diferencias con LoRa (P2P) y  LoRaWAN </a:t>
            </a:r>
            <a:endParaRPr sz="2300"/>
          </a:p>
        </p:txBody>
      </p:sp>
      <p:sp>
        <p:nvSpPr>
          <p:cNvPr id="122" name="Google Shape;122;p18"/>
          <p:cNvSpPr txBox="1"/>
          <p:nvPr>
            <p:ph idx="1" type="body"/>
          </p:nvPr>
        </p:nvSpPr>
        <p:spPr>
          <a:xfrm>
            <a:off x="729450" y="2132675"/>
            <a:ext cx="7688700" cy="21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s-419" sz="2100">
                <a:solidFill>
                  <a:srgbClr val="0A0A0A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LoRaWAN  es un protocolo de red con pasarelas para enviar datos a la nube (IoT), </a:t>
            </a:r>
            <a:endParaRPr sz="2100">
              <a:solidFill>
                <a:srgbClr val="0A0A0A"/>
              </a:solidFill>
              <a:highlight>
                <a:srgbClr val="FFFFFF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s-419" sz="2100">
                <a:solidFill>
                  <a:srgbClr val="0A0A0A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Y el modo P2P es una comunicación directa de radio simple, útil cuando no se necesita internet</a:t>
            </a:r>
            <a:endParaRPr sz="2100">
              <a:solidFill>
                <a:srgbClr val="0A0A0A"/>
              </a:solidFill>
              <a:highlight>
                <a:srgbClr val="FFFFFF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30000"/>
              </a:lnSpc>
              <a:spcBef>
                <a:spcPts val="1200"/>
              </a:spcBef>
              <a:spcAft>
                <a:spcPts val="2100"/>
              </a:spcAft>
              <a:buNone/>
            </a:pPr>
            <a:r>
              <a:t/>
            </a:r>
            <a:endParaRPr sz="1180">
              <a:solidFill>
                <a:srgbClr val="0A0A0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>
                <a:solidFill>
                  <a:srgbClr val="0A0A0A"/>
                </a:solidFill>
                <a:highlight>
                  <a:srgbClr val="FFFFFF"/>
                </a:highlight>
              </a:rPr>
              <a:t>Características y Ventajas de LoRa P2P</a:t>
            </a:r>
            <a:endParaRPr sz="2300"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729450" y="1693600"/>
            <a:ext cx="7973700" cy="26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A0A0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A0A0A"/>
              </a:buClr>
              <a:buSzPct val="100000"/>
              <a:buFont typeface="Raleway"/>
              <a:buChar char="●"/>
            </a:pPr>
            <a:r>
              <a:rPr b="1" lang="es-419" sz="7200">
                <a:solidFill>
                  <a:srgbClr val="0A0A0A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Conexión Directa:</a:t>
            </a:r>
            <a:r>
              <a:rPr lang="es-419" sz="7200">
                <a:solidFill>
                  <a:srgbClr val="0A0A0A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 Dos módulos se comunican directamente (peer-to-peer), idóneo para entornos sin cobertura celulár o de red.</a:t>
            </a:r>
            <a:endParaRPr sz="7200">
              <a:solidFill>
                <a:srgbClr val="0A0A0A"/>
              </a:solidFill>
              <a:highlight>
                <a:srgbClr val="FFFFFF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Font typeface="Raleway"/>
              <a:buChar char="●"/>
            </a:pPr>
            <a:r>
              <a:rPr b="1" lang="es-419" sz="7200">
                <a:solidFill>
                  <a:srgbClr val="0A0A0A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Largo Alcance y Bajo Consumo:</a:t>
            </a:r>
            <a:r>
              <a:rPr lang="es-419" sz="7200">
                <a:solidFill>
                  <a:srgbClr val="0A0A0A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 Funciona a kilómetros de distancia con baterías de larga duración.</a:t>
            </a:r>
            <a:endParaRPr sz="7200">
              <a:solidFill>
                <a:srgbClr val="0A0A0A"/>
              </a:solidFill>
              <a:highlight>
                <a:srgbClr val="FFFFFF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Font typeface="Raleway"/>
              <a:buChar char="●"/>
            </a:pPr>
            <a:r>
              <a:rPr b="1" lang="es-419" sz="7200">
                <a:solidFill>
                  <a:srgbClr val="0A0A0A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Alta Tolerancia al Ruido:</a:t>
            </a:r>
            <a:r>
              <a:rPr lang="es-419" sz="7200">
                <a:solidFill>
                  <a:srgbClr val="0A0A0A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 La técnica CSS asegura una comunicación robusta, incluso con interferencias.</a:t>
            </a:r>
            <a:endParaRPr sz="7200">
              <a:solidFill>
                <a:srgbClr val="0A0A0A"/>
              </a:solidFill>
              <a:highlight>
                <a:srgbClr val="FFFFFF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Font typeface="Raleway"/>
              <a:buChar char="●"/>
            </a:pPr>
            <a:r>
              <a:rPr b="1" lang="es-419" sz="7200">
                <a:solidFill>
                  <a:srgbClr val="0A0A0A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Configuración Simple:</a:t>
            </a:r>
            <a:r>
              <a:rPr lang="es-419" sz="7200">
                <a:solidFill>
                  <a:srgbClr val="0A0A0A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 Solo requiere emparejar los parámetros (frecuencia, factor de dispersión, ancho de banda) entre ambos nodos.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lang="es-419" sz="2300">
                <a:solidFill>
                  <a:srgbClr val="0A0A0A"/>
                </a:solidFill>
                <a:highlight>
                  <a:srgbClr val="FFFFFF"/>
                </a:highlight>
              </a:rPr>
              <a:t>Requisitos para el Enlace P2P</a:t>
            </a:r>
            <a:endParaRPr sz="2300"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729450" y="1853850"/>
            <a:ext cx="7688700" cy="32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lang="es-419" sz="1600">
                <a:solidFill>
                  <a:srgbClr val="000000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Para que la comunicación funcione, </a:t>
            </a:r>
            <a:r>
              <a:rPr b="1" lang="es-419" sz="1600">
                <a:solidFill>
                  <a:srgbClr val="000000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ambos dispositivos deben configurarse exactamente igual:</a:t>
            </a:r>
            <a:endParaRPr b="1" sz="1600">
              <a:solidFill>
                <a:srgbClr val="000000"/>
              </a:solidFill>
              <a:highlight>
                <a:srgbClr val="FFFFFF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aleway"/>
              <a:buChar char="●"/>
            </a:pPr>
            <a:r>
              <a:rPr b="1" lang="es-419" sz="1600">
                <a:solidFill>
                  <a:srgbClr val="000000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Frecuencia:</a:t>
            </a:r>
            <a:r>
              <a:rPr lang="es-419" sz="1600">
                <a:solidFill>
                  <a:srgbClr val="000000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 (ej. 433/868/915 MHz).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aleway"/>
              <a:buChar char="●"/>
            </a:pPr>
            <a:r>
              <a:rPr b="1" lang="es-419" sz="1600">
                <a:solidFill>
                  <a:srgbClr val="000000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Spreading Factor (SF)</a:t>
            </a:r>
            <a:r>
              <a:rPr lang="es-419" sz="1600">
                <a:solidFill>
                  <a:srgbClr val="000000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: determina la velocidad de datos y el alcance, variando de SF7 ( menor velocidad, alcance, consumo)  a SF12 (mayor alcance, velocidad, consumo)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aleway"/>
              <a:buChar char="●"/>
            </a:pPr>
            <a:r>
              <a:rPr b="1" lang="es-419" sz="1600">
                <a:solidFill>
                  <a:srgbClr val="000000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Bandwidth (BW)</a:t>
            </a:r>
            <a:r>
              <a:rPr lang="es-419" sz="1600">
                <a:solidFill>
                  <a:srgbClr val="000000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: 10.4Khz a 500Khz (tipico 125Khz -taza de 0.3kbps a 11Kbps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aleway"/>
              <a:buChar char="●"/>
            </a:pPr>
            <a:r>
              <a:rPr b="1" lang="es-419" sz="1600">
                <a:solidFill>
                  <a:srgbClr val="000000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Coding Rate (CR)</a:t>
            </a:r>
            <a:r>
              <a:rPr lang="es-419" sz="1600">
                <a:solidFill>
                  <a:srgbClr val="000000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: define la redundancia de datos para corrección de errores</a:t>
            </a: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Proyecto con ESP32 y LoRa</a:t>
            </a:r>
            <a:endParaRPr/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El proyecto consiste en </a:t>
            </a:r>
            <a:r>
              <a:rPr b="1" lang="es-419" sz="19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transmitir</a:t>
            </a:r>
            <a:r>
              <a:rPr lang="es-419" sz="19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los datos tomados con un sensor de temperatura desde un </a:t>
            </a:r>
            <a:r>
              <a:rPr b="1" lang="es-419" sz="19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punto a otro punto</a:t>
            </a:r>
            <a:r>
              <a:rPr lang="es-419" sz="19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en forma inalambrica. </a:t>
            </a:r>
            <a:endParaRPr sz="19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9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Esto se realiza por medio de un </a:t>
            </a:r>
            <a:r>
              <a:rPr b="1" lang="es-419" sz="19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bloque emisor</a:t>
            </a:r>
            <a:r>
              <a:rPr lang="es-419" sz="19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formado por un SP32, un modulo transmisor/reseptor LoRa RA-02, un modulo sensado de temperatura AHT-10. Y un </a:t>
            </a:r>
            <a:r>
              <a:rPr b="1" lang="es-419" sz="19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bloque receptor</a:t>
            </a:r>
            <a:r>
              <a:rPr lang="es-419" sz="19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formado por un SP32 y un modulo transmisor/reseptor LoRa RA-02. </a:t>
            </a:r>
            <a:endParaRPr sz="19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Diagrama en bloque del setup</a:t>
            </a:r>
            <a:endParaRPr/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2" title="diagrama bloque presentacion lo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4950" y="1772000"/>
            <a:ext cx="6001051" cy="337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Módulo LoRa </a:t>
            </a:r>
            <a:endParaRPr/>
          </a:p>
        </p:txBody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729450" y="2078875"/>
            <a:ext cx="3457500" cy="25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8750" y="1731300"/>
            <a:ext cx="4419400" cy="30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516" y="2078874"/>
            <a:ext cx="3480234" cy="257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Módulo sensor de temperatura y humedad</a:t>
            </a:r>
            <a:endParaRPr/>
          </a:p>
        </p:txBody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729450" y="2078875"/>
            <a:ext cx="5480400" cy="25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						Sensor AHT-10</a:t>
            </a:r>
            <a:endParaRPr/>
          </a:p>
        </p:txBody>
      </p:sp>
      <p:pic>
        <p:nvPicPr>
          <p:cNvPr id="162" name="Google Shape;162;p24"/>
          <p:cNvPicPr preferRelativeResize="0"/>
          <p:nvPr/>
        </p:nvPicPr>
        <p:blipFill rotWithShape="1">
          <a:blip r:embed="rId3">
            <a:alphaModFix/>
          </a:blip>
          <a:srcRect b="0" l="0" r="11079" t="14457"/>
          <a:stretch/>
        </p:blipFill>
        <p:spPr>
          <a:xfrm>
            <a:off x="3110775" y="2571749"/>
            <a:ext cx="5307374" cy="200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4"/>
          <p:cNvPicPr preferRelativeResize="0"/>
          <p:nvPr/>
        </p:nvPicPr>
        <p:blipFill rotWithShape="1">
          <a:blip r:embed="rId4">
            <a:alphaModFix/>
          </a:blip>
          <a:srcRect b="29098" l="3934" r="44910" t="27916"/>
          <a:stretch/>
        </p:blipFill>
        <p:spPr>
          <a:xfrm>
            <a:off x="1215575" y="2078875"/>
            <a:ext cx="1763899" cy="130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4"/>
          <p:cNvPicPr preferRelativeResize="0"/>
          <p:nvPr/>
        </p:nvPicPr>
        <p:blipFill rotWithShape="1">
          <a:blip r:embed="rId5">
            <a:alphaModFix/>
          </a:blip>
          <a:srcRect b="11023" l="16721" r="17576" t="11840"/>
          <a:stretch/>
        </p:blipFill>
        <p:spPr>
          <a:xfrm rot="-5400000">
            <a:off x="1439850" y="3213862"/>
            <a:ext cx="1315351" cy="1779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727650" y="610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Interconexionado del los módulos del Setup  </a:t>
            </a:r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625" y="1333100"/>
            <a:ext cx="4248525" cy="270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2150" y="1333099"/>
            <a:ext cx="2961625" cy="3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5"/>
          <p:cNvSpPr txBox="1"/>
          <p:nvPr>
            <p:ph type="title"/>
          </p:nvPr>
        </p:nvSpPr>
        <p:spPr>
          <a:xfrm>
            <a:off x="1455300" y="39786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Emisor y Receptor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729450" y="1318650"/>
            <a:ext cx="3535800" cy="12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Esquemático</a:t>
            </a:r>
            <a:r>
              <a:rPr lang="es-419"/>
              <a:t> de I</a:t>
            </a:r>
            <a:r>
              <a:rPr lang="es-419"/>
              <a:t>nterconexión Emisor</a:t>
            </a:r>
            <a:endParaRPr/>
          </a:p>
        </p:txBody>
      </p:sp>
      <p:sp>
        <p:nvSpPr>
          <p:cNvPr id="179" name="Google Shape;179;p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26" title="WhatsApp Image 2026-04-23 at 10.32.43.jpeg"/>
          <p:cNvPicPr preferRelativeResize="0"/>
          <p:nvPr/>
        </p:nvPicPr>
        <p:blipFill rotWithShape="1">
          <a:blip r:embed="rId3">
            <a:alphaModFix/>
          </a:blip>
          <a:srcRect b="0" l="0" r="50419" t="0"/>
          <a:stretch/>
        </p:blipFill>
        <p:spPr>
          <a:xfrm>
            <a:off x="4725275" y="1114800"/>
            <a:ext cx="2967635" cy="402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7"/>
          <p:cNvSpPr txBox="1"/>
          <p:nvPr>
            <p:ph type="title"/>
          </p:nvPr>
        </p:nvSpPr>
        <p:spPr>
          <a:xfrm>
            <a:off x="729450" y="1318650"/>
            <a:ext cx="3535800" cy="12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Esquemático de Interconexión Receptor</a:t>
            </a:r>
            <a:endParaRPr/>
          </a:p>
        </p:txBody>
      </p:sp>
      <p:pic>
        <p:nvPicPr>
          <p:cNvPr id="187" name="Google Shape;187;p27" title="WhatsApp Image 2026-04-23 at 10.32.43.jpeg"/>
          <p:cNvPicPr preferRelativeResize="0"/>
          <p:nvPr/>
        </p:nvPicPr>
        <p:blipFill rotWithShape="1">
          <a:blip r:embed="rId3">
            <a:alphaModFix/>
          </a:blip>
          <a:srcRect b="0" l="49431" r="0" t="0"/>
          <a:stretch/>
        </p:blipFill>
        <p:spPr>
          <a:xfrm>
            <a:off x="4681769" y="1114800"/>
            <a:ext cx="3026826" cy="402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Programación del ESP32,  Módulo Emisor y Módulo   Receptor</a:t>
            </a:r>
            <a:endParaRPr/>
          </a:p>
        </p:txBody>
      </p:sp>
      <p:sp>
        <p:nvSpPr>
          <p:cNvPr id="193" name="Google Shape;193;p28"/>
          <p:cNvSpPr txBox="1"/>
          <p:nvPr>
            <p:ph idx="1" type="body"/>
          </p:nvPr>
        </p:nvSpPr>
        <p:spPr>
          <a:xfrm>
            <a:off x="729450" y="2571750"/>
            <a:ext cx="7688700" cy="22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9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Las programación de los modulos ESP32 se van a explicar directamente desde el programa </a:t>
            </a:r>
            <a:r>
              <a:rPr b="1" lang="es-419" sz="19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Arduino IDE.</a:t>
            </a:r>
            <a:r>
              <a:rPr b="1" lang="es-419" sz="56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56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